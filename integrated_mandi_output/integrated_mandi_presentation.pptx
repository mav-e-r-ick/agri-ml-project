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F7639-838F-DB28-7F6B-6733D45715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C298C3-1F49-DB77-3502-0CC319ECFA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975FD1-66C1-006B-AD23-FDDB22778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F4144-7F16-4F0C-BEA0-6E0394F0649C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AADBD-7720-0976-054A-67702F5B3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AAA1B-168C-8B49-9C79-4A940C4A1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630BB-3EE4-4DDD-A1C4-0AFCCB9964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3613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97F14-204F-FD78-F4E6-F26F3893A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5EFBA-E737-219C-0C3B-64FF3C097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847F6-067D-4131-148C-BC9A5D79A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F4144-7F16-4F0C-BEA0-6E0394F0649C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1A5EE-4D34-C288-5975-CDD9FBB16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6433D-655E-3526-65AC-19408C80A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630BB-3EE4-4DDD-A1C4-0AFCCB9964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905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385B8-41B8-6235-306D-693D7E04E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418A46-EFF1-C97F-FE00-C327F7A40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27124-16F0-CC41-3F76-563931AC1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F4144-7F16-4F0C-BEA0-6E0394F0649C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A89D1-62E8-9031-63A2-D7831BF74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B468F-CD84-BE6A-622B-997F1545C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630BB-3EE4-4DDD-A1C4-0AFCCB9964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946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38F92-6DC4-5EBA-6B10-8D1B556FA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22D08-63EC-5BB5-0F46-B7BA5FF66C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E01F61-E454-3078-4891-05F749FF5E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33F52F-E5F9-748D-117C-964DEBE48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F4144-7F16-4F0C-BEA0-6E0394F0649C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07A709-0EB5-FEE5-2200-409EC1531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5898DA-3981-3AB5-2D59-D8C578576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630BB-3EE4-4DDD-A1C4-0AFCCB9964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837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B9BB6-6B14-5397-44A0-E89A07F6C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3F2F0-B50D-5B22-86F9-B4AF6F89A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52AE4D-CAAC-8533-22A3-301CAF7C9E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9BC340-14B6-F487-99A1-CA444CF8F8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68589C-9900-1A59-402C-797194265D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A5B278-8002-4188-AC69-E1B248657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F4144-7F16-4F0C-BEA0-6E0394F0649C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4B3108-D67F-5D9D-7D59-5F7A4FF7D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E44CA6-E475-21ED-B3D4-0EC266835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630BB-3EE4-4DDD-A1C4-0AFCCB9964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1669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29D72-2E1C-71DB-8585-EF1EDD64F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488F19-417C-2780-A7F1-C5DA93D70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F4144-7F16-4F0C-BEA0-6E0394F0649C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A50A27-275E-55DA-B94A-8405D947F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B9A9A1-01F1-A439-2D00-7A60DBC2B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630BB-3EE4-4DDD-A1C4-0AFCCB9964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743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D4B806-77D6-9950-0118-5D7ED41DF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F4144-7F16-4F0C-BEA0-6E0394F0649C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943F51-205F-49F3-DB38-6FCC878E0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DE3CCD-2E4C-03A0-FF8D-9E8016EB4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630BB-3EE4-4DDD-A1C4-0AFCCB9964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7995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46B5E-D4C1-B933-7EEA-9D217F01E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710EC-6AEE-C091-E9BA-665BA6E6F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BD4FF5-3F85-F9B7-938B-107D0238A1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B2A665-0AA4-8254-87A1-18EA7097D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F4144-7F16-4F0C-BEA0-6E0394F0649C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0DDEDA-76AD-601F-3F62-A34C27388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597DE2-33A1-E5BF-FDBC-BFE55BAEA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630BB-3EE4-4DDD-A1C4-0AFCCB9964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6078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27996-46FA-D530-08B2-42D2C0425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0D88BB-8A5F-3B3A-3E99-E5B78ADA67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1000DF-6FD7-3DBF-D491-041879BDF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C5317B-CF64-7D51-3A16-C4167C652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F4144-7F16-4F0C-BEA0-6E0394F0649C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3B3B8-E490-2A9E-154B-238D88F67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3ED169-6E85-CBEC-A51B-1D5D36DF4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630BB-3EE4-4DDD-A1C4-0AFCCB9964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633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DEEC4-96EC-42A5-935C-E3923E481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EF96A4-79C3-CA9B-801B-F284E3DBE6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6C129-53E3-414F-A6D5-E813E62D7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F4144-7F16-4F0C-BEA0-6E0394F0649C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57B4E-EA38-D3EC-D6CF-CF82A2064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D0B61-B52E-7350-B56F-3F69BA25D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630BB-3EE4-4DDD-A1C4-0AFCCB9964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7225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BA26B9-4AA2-87A1-2DEE-6EB39BEF76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AD7287-CE4C-7233-83B3-EF40682430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2D356-D37A-49E9-6F61-74D974A16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F4144-7F16-4F0C-BEA0-6E0394F0649C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CC3FB-47C7-51E3-3377-74806FE12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7D801-EF8D-2DDC-5007-4586D0470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630BB-3EE4-4DDD-A1C4-0AFCCB9964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6792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0EFC3-5596-1004-8EE4-23B814CEA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D916A9-A7FE-ECA2-BD6D-7D2D0362AF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34F6B-9BD7-A05B-3DB1-69FAA8E10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F4144-7F16-4F0C-BEA0-6E0394F0649C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DC05B-8A26-0629-592A-7C55B8171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E366D-2797-EB96-870E-B9A0AC0FA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630BB-3EE4-4DDD-A1C4-0AFCCB9964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141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33A494-D423-B6DE-E2CF-590C78195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C9A75D-A3D6-4F39-A495-32ECAB936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A8A5E-500F-DB96-7966-057848DA08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7F4144-7F16-4F0C-BEA0-6E0394F0649C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4FA0C-538E-DE8A-8089-80F3465F7C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CF86E-D78F-26B7-9949-93E47B120C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7630BB-3EE4-4DDD-A1C4-0AFCCB9964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305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56308-F0DA-2CF3-F5A6-2FF5616452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Integrated Onion and Tomato Mandi Price Intelligence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3B1E9C-7846-371B-A71C-D2B6A8F965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Pune district crop prices with nearby weather and Mumbai fuel drivers</a:t>
            </a:r>
          </a:p>
          <a:p>
            <a:r>
              <a:rPr lang="en-US"/>
              <a:t>Generated on 2026-03-24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841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D1F45-C73D-FE27-33BC-61525CD9F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Data and Modeling Workflow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9EE15C-EB7B-B8D4-E0E5-BDFC9663D8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/>
              <a:t>• Daily Pune district onion and tomato mandi prices were aggregated across markets.</a:t>
            </a:r>
          </a:p>
          <a:p>
            <a:r>
              <a:rPr lang="en-US" sz="2000"/>
              <a:t>• Weather features were built from Pune plus nearby districts: Ahmednagar, Nashik, Satara, Kalyan, and Mumbai.</a:t>
            </a:r>
          </a:p>
          <a:p>
            <a:r>
              <a:rPr lang="en-US" sz="2000"/>
              <a:t>• Mumbai petrol and diesel prices were added as logistics cost signals.</a:t>
            </a:r>
          </a:p>
          <a:p>
            <a:r>
              <a:rPr lang="en-US" sz="2000"/>
              <a:t>• Onion used longer lag windows because it is less perishable.</a:t>
            </a:r>
          </a:p>
          <a:p>
            <a:r>
              <a:rPr lang="en-US" sz="2000"/>
              <a:t>• Tomato used shorter lag windows because it is highly perishable.</a:t>
            </a:r>
          </a:p>
          <a:p>
            <a:r>
              <a:rPr lang="en-US" sz="2000"/>
              <a:t>• Models used 80 percent training, 20 percent test, and five fold time series cross validation.</a:t>
            </a:r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1769648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DC911-1FC7-768E-51F1-1340E4D6E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Exploratory Data Analysis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A014164-41D2-A21B-2CE1-3FF2C7E4186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7500" y="1016000"/>
            <a:ext cx="8001000" cy="2794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81DDA494-6745-314B-B4A3-3AF6312E8E4B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7500" y="3873500"/>
            <a:ext cx="8001000" cy="2794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50685B8-EC20-3E5B-949B-BE1952ED31CC}"/>
              </a:ext>
            </a:extLst>
          </p:cNvPr>
          <p:cNvSpPr txBox="1"/>
          <p:nvPr/>
        </p:nvSpPr>
        <p:spPr>
          <a:xfrm>
            <a:off x="8636000" y="1397000"/>
            <a:ext cx="2921000" cy="203132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• Integrated common dates: 3085</a:t>
            </a:r>
          </a:p>
          <a:p>
            <a:r>
              <a:rPr lang="en-US"/>
              <a:t>• Study window: 2017-06-16 to 2026-03-06</a:t>
            </a:r>
          </a:p>
          <a:p>
            <a:r>
              <a:rPr lang="en-US"/>
              <a:t>• Both crops show strong seasonality and distinct fluctuation patterns.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001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FB534-45F2-777D-73E4-5E80ED445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Correlation Structure and Key Drivers</a:t>
            </a:r>
            <a:endParaRPr lang="en-IN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0DB1F89-FF3A-998F-CBF5-7F181761E2A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7500" y="1016000"/>
            <a:ext cx="8001000" cy="2794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09378C37-9F37-7C73-3829-7F06D7939A55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7500" y="3873500"/>
            <a:ext cx="8001000" cy="2794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DE9EE77-DBAC-7A32-7E75-4B71A0A3CDDD}"/>
              </a:ext>
            </a:extLst>
          </p:cNvPr>
          <p:cNvSpPr txBox="1"/>
          <p:nvPr/>
        </p:nvSpPr>
        <p:spPr>
          <a:xfrm>
            <a:off x="8636000" y="1397000"/>
            <a:ext cx="2921000" cy="258532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• Heatmaps summarize crop, fuel, and weather correlations.</a:t>
            </a:r>
          </a:p>
          <a:p>
            <a:r>
              <a:rPr lang="en-US"/>
              <a:t>• Ridge regression was used to reduce multicollinearity sensitivity.</a:t>
            </a:r>
          </a:p>
          <a:p>
            <a:r>
              <a:rPr lang="en-US"/>
              <a:t>• Cross commodity effects were included in both crop models.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6359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A1AF4-F58F-A051-9BC6-13FCFC116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Onion Predictive Model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6399063-F47C-4F77-7F2B-DF88E31E682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7500" y="1016000"/>
            <a:ext cx="8001000" cy="2794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36D585-A7F9-927C-49B9-6A87A2DFEE96}"/>
              </a:ext>
            </a:extLst>
          </p:cNvPr>
          <p:cNvSpPr txBox="1"/>
          <p:nvPr/>
        </p:nvSpPr>
        <p:spPr>
          <a:xfrm>
            <a:off x="8636000" y="1397000"/>
            <a:ext cx="2921000" cy="175432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• Best lambda: 0.1</a:t>
            </a:r>
          </a:p>
          <a:p>
            <a:r>
              <a:rPr lang="en-US"/>
              <a:t>• R2: 0.9371</a:t>
            </a:r>
          </a:p>
          <a:p>
            <a:r>
              <a:rPr lang="en-US"/>
              <a:t>• RMSE: 247.88</a:t>
            </a:r>
          </a:p>
          <a:p>
            <a:r>
              <a:rPr lang="en-US"/>
              <a:t>• Baseline RMSE: 274.88</a:t>
            </a:r>
          </a:p>
          <a:p>
            <a:r>
              <a:rPr lang="en-US"/>
              <a:t>• Onion uses lag 1, 7, 14, 30, and 60 plus rolling windows.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3245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26302-ECE7-D227-9B86-4E55C5314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Tomato Predictive Model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7DB79F2-9B9F-6706-B136-9FA162B13B0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7500" y="1016000"/>
            <a:ext cx="8001000" cy="2794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3C5573-A747-B345-EAC4-43DB6936E70C}"/>
              </a:ext>
            </a:extLst>
          </p:cNvPr>
          <p:cNvSpPr txBox="1"/>
          <p:nvPr/>
        </p:nvSpPr>
        <p:spPr>
          <a:xfrm>
            <a:off x="8636000" y="1397000"/>
            <a:ext cx="2921000" cy="203132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• Best lambda: 0.1</a:t>
            </a:r>
          </a:p>
          <a:p>
            <a:r>
              <a:rPr lang="en-US"/>
              <a:t>• R2: 0.894</a:t>
            </a:r>
          </a:p>
          <a:p>
            <a:r>
              <a:rPr lang="en-US"/>
              <a:t>• RMSE: 287.84</a:t>
            </a:r>
          </a:p>
          <a:p>
            <a:r>
              <a:rPr lang="en-US"/>
              <a:t>• Baseline RMSE: 310.88</a:t>
            </a:r>
          </a:p>
          <a:p>
            <a:r>
              <a:rPr lang="en-US"/>
              <a:t>• Tomato uses shorter lags to reflect perishability and fast market response.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321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FB1F5-47CA-DBDF-58DD-E10992C24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Diagnostics and Future Forecast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8574C2C-B692-3FA6-3E2B-755E1F0DAFF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7500" y="1016000"/>
            <a:ext cx="8001000" cy="2794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125F4D-3D9B-E5C3-1861-C3A69D8A3261}"/>
              </a:ext>
            </a:extLst>
          </p:cNvPr>
          <p:cNvSpPr txBox="1"/>
          <p:nvPr/>
        </p:nvSpPr>
        <p:spPr>
          <a:xfrm>
            <a:off x="8636000" y="1397000"/>
            <a:ext cx="2921000" cy="203132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• Forecast horizon: 2026-03-07 to 2026-03-20</a:t>
            </a:r>
          </a:p>
          <a:p>
            <a:r>
              <a:rPr lang="en-US"/>
              <a:t>• Onion forecast softens over the horizon.</a:t>
            </a:r>
          </a:p>
          <a:p>
            <a:r>
              <a:rPr lang="en-US"/>
              <a:t>• Tomato forecast also weakens, indicating urgency in dispatch decisions.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674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C7D86-2529-7455-C7B9-3873958A5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Prescriptive Analysis and Recommendations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A30A5A-6765-5591-242D-0214E684B3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/>
              <a:t>• Onion is forecasted to soften over the next two weeks, so traders should consider faster release, especially if holding costs and shrinkage risk increase.</a:t>
            </a:r>
          </a:p>
          <a:p>
            <a:r>
              <a:rPr lang="en-US" sz="2000"/>
              <a:t>• Tomato is forecasted to weaken or remain fragile, so the prescriptive action is to prioritize immediate harvesting, sorting, and dispatch to reduce spoilage losses.</a:t>
            </a:r>
          </a:p>
          <a:p>
            <a:r>
              <a:rPr lang="en-US" sz="2000"/>
              <a:t>• Current low rainfall conditions suggest transport friction is not the main constraint, so price planning can focus more on demand and arrivals.</a:t>
            </a:r>
          </a:p>
          <a:p>
            <a:r>
              <a:rPr lang="en-US" sz="2000"/>
              <a:t>• Higher Mumbai fuel prices imply transport cost pressure, so grouping shipments and optimizing route density can help protect margins.</a:t>
            </a:r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3247068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393</Words>
  <Application>Microsoft Office PowerPoint</Application>
  <PresentationFormat>Widescreen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Integrated Onion and Tomato Mandi Price Intelligence</vt:lpstr>
      <vt:lpstr>Data and Modeling Workflow</vt:lpstr>
      <vt:lpstr>Exploratory Data Analysis</vt:lpstr>
      <vt:lpstr>Correlation Structure and Key Drivers</vt:lpstr>
      <vt:lpstr>Onion Predictive Model</vt:lpstr>
      <vt:lpstr>Tomato Predictive Model</vt:lpstr>
      <vt:lpstr>Diagnostics and Future Forecast</vt:lpstr>
      <vt:lpstr>Prescriptive Analysis and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My Galaxy</dc:creator>
  <cp:lastModifiedBy>My Galaxy</cp:lastModifiedBy>
  <cp:revision>1</cp:revision>
  <dcterms:created xsi:type="dcterms:W3CDTF">2026-03-24T07:33:49Z</dcterms:created>
  <dcterms:modified xsi:type="dcterms:W3CDTF">2026-03-24T07:33:49Z</dcterms:modified>
</cp:coreProperties>
</file>